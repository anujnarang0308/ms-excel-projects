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Healthcare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916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5E7EE"/>
                </a:solidFill>
                <a:latin typeface="Aptos"/>
              </a:defRPr>
            </a:pPr>
            <a:r>
              <a:t>Business Problems, Dashboard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Evidence-led analysis of demographics, patient billing, admission demand and operational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977639"/>
            <a:ext cx="2240280" cy="109728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23944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9431"/>
            <a:ext cx="1911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3977639"/>
            <a:ext cx="2240280" cy="109728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4123944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$233.1M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4599431"/>
            <a:ext cx="1911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Total recorded billing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4416" y="3977639"/>
            <a:ext cx="2240280" cy="109728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7" y="4123944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35.9%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7" y="4599431"/>
            <a:ext cx="1911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Emergency admissions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77639"/>
            <a:ext cx="2240280" cy="109728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4123944"/>
            <a:ext cx="1911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28.0%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4599431"/>
            <a:ext cx="1911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Billing from cancer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080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C8D2"/>
                </a:solidFill>
                <a:latin typeface="Aptos"/>
              </a:defRPr>
            </a:pPr>
            <a:r>
              <a:t>Prepared from the supplied Excel dashboard and supporting analysis 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Executive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What the workbook data says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560320" cy="105156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38074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$233.1M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Total billing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560320" cy="105156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38074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85623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Patients analysed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560320" cy="105156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38074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27.99%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85623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Cancer share of 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234440"/>
            <a:ext cx="2560320" cy="105156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38074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20.31%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185623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70–82 billing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10789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Cancer is the largest billing driver: $65.3M, or 28.0% of total billing. Cancer + diabetes together contribute 46.4%.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Emergency care is the largest admission channel at 3,587 patients (35.9%), followed by urgent care at 3,336 (33.4%).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The patient base is almost evenly split by gender (50.8% female / 49.3% male), so pricing or capacity decisions should not be gender-led.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Older patients drive more total billing mainly because of volume: ages 70–82 contribute $47.3M, while age and billing have almost no linear relationship (r ≈ 0.01).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Operational demand is relatively stable in full years 2019–2022; October is the highest-volume month in that period.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789920" cy="914400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09320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422392"/>
            <a:ext cx="10460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Use condition + admission type as the primary business levers. Treat age, gender and blood group as segmentation/context variables rather than direct price-setting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Problem 1 — Who is driving the patient burden?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Demographic analysis: age, gender and medical 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pic>
        <p:nvPicPr>
          <p:cNvPr id="6" name="Picture 5" descr="gender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577840" cy="3246120"/>
          </a:xfrm>
          <a:prstGeom prst="rect">
            <a:avLst/>
          </a:prstGeom>
        </p:spPr>
      </p:pic>
      <p:pic>
        <p:nvPicPr>
          <p:cNvPr id="7" name="Picture 6" descr="condition_admiss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3035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09160"/>
            <a:ext cx="3429000" cy="1234440"/>
          </a:xfrm>
          <a:prstGeom prst="roundRect">
            <a:avLst/>
          </a:prstGeom>
          <a:solidFill>
            <a:srgbClr val="F2F7F9"/>
          </a:solidFill>
          <a:ln>
            <a:solidFill>
              <a:srgbClr val="CD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481888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D792C"/>
                </a:solidFill>
                <a:latin typeface="Aptos"/>
              </a:defRPr>
            </a:pPr>
            <a:r>
              <a:t>Gender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5148072"/>
            <a:ext cx="3099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Female and male volumes are close. The clearest difference is condition mix: male hypertension is 1,319 cases vs 836 female.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709160"/>
            <a:ext cx="3429000" cy="1234440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481888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Age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5148072"/>
            <a:ext cx="3099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Hypertension rises across adult age bands and arthritis becomes more prominent in older groups. Asthma is strongest among 18–30.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709160"/>
            <a:ext cx="3429000" cy="1234440"/>
          </a:xfrm>
          <a:prstGeom prst="roundRect">
            <a:avLst/>
          </a:prstGeom>
          <a:solidFill>
            <a:srgbClr val="F2F7F9"/>
          </a:solidFill>
          <a:ln>
            <a:solidFill>
              <a:srgbClr val="2F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481888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7E55"/>
                </a:solidFill>
                <a:latin typeface="Aptos"/>
              </a:defRPr>
            </a:pPr>
            <a:r>
              <a:t>Business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5148072"/>
            <a:ext cx="3099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Segment clinical programs and capacity by condition + age, rather than using one broad demographic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Problem 2 — Where is the billing value concentrated?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Patient price optimization: condition and age-group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pic>
        <p:nvPicPr>
          <p:cNvPr id="6" name="Picture 5" descr="billing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577840" cy="3246120"/>
          </a:xfrm>
          <a:prstGeom prst="rect">
            <a:avLst/>
          </a:prstGeom>
        </p:spPr>
      </p:pic>
      <p:pic>
        <p:nvPicPr>
          <p:cNvPr id="7" name="Picture 6" descr="billing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3035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09160"/>
            <a:ext cx="3429000" cy="1234440"/>
          </a:xfrm>
          <a:prstGeom prst="roundRect">
            <a:avLst/>
          </a:prstGeom>
          <a:solidFill>
            <a:srgbClr val="F2F7F9"/>
          </a:solidFill>
          <a:ln>
            <a:solidFill>
              <a:srgbClr val="CD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481888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D792C"/>
                </a:solidFill>
                <a:latin typeface="Aptos"/>
              </a:defRPr>
            </a:pPr>
            <a:r>
              <a:t>Highest-value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5148072"/>
            <a:ext cx="3099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Cancer: $65.3M total billing and ~$39.7K average billing per billed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709160"/>
            <a:ext cx="3429000" cy="1234440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481888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Lowest-value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5148072"/>
            <a:ext cx="3099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Obesity: $20.3M total and ~$12.5K average billing — materially below the portfolio average.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709160"/>
            <a:ext cx="3429000" cy="1234440"/>
          </a:xfrm>
          <a:prstGeom prst="roundRect">
            <a:avLst/>
          </a:prstGeom>
          <a:solidFill>
            <a:srgbClr val="F2F7F9"/>
          </a:solidFill>
          <a:ln>
            <a:solidFill>
              <a:srgbClr val="2F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481888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7E55"/>
                </a:solidFill>
                <a:latin typeface="Aptos"/>
              </a:defRPr>
            </a:pPr>
            <a:r>
              <a:t>Pricing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5148072"/>
            <a:ext cx="3099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Do not price primarily by age: group averages are tightly clustered and age-vs-billing correlation is only ~0.01.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Answer — A defensible patient 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Translate the dashboard into an actionable pricing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304A"/>
                </a:solidFill>
                <a:latin typeface="Aptos"/>
              </a:defRPr>
            </a:pPr>
            <a:r>
              <a:t>Recommended pricing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1. Start with condition-level cost intensity. Cancer and diabetes deserve the strongest resource/cost controls.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2. Add admission urgency. Emergency cases have the highest average billing (~$24.3K) and represent 35.9% of patients.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3. Use age only as a secondary risk/capacity factor; it does not explain billing variance by itself.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4. Monitor payer mix separately. Medicare has the largest patient count; Cigna/Aetna show higher average billing than Medicare.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5. Avoid using blood group as a price driver — the billing distribution is comparatively flat across standardized blood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19456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517904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$65.3M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Cancer billing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19456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517904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$43.0M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199339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Diabetes 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51760"/>
            <a:ext cx="219456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798064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$24.3K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27355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Emergency avg. bill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651760"/>
            <a:ext cx="219456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2798064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$39.7K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327355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Cancer avg. bill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219456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078224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23.8%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55371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Medicare billing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3931920"/>
            <a:ext cx="2194560" cy="100584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4078224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46.4%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4553712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Cancer + diabetes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257800"/>
            <a:ext cx="4617720" cy="731520"/>
          </a:xfrm>
          <a:prstGeom prst="roundRect">
            <a:avLst/>
          </a:prstGeom>
          <a:solidFill>
            <a:srgbClr val="F2F7F9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5367528"/>
            <a:ext cx="4288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304A"/>
                </a:solidFill>
                <a:latin typeface="Aptos"/>
              </a:defRPr>
            </a:pPr>
            <a:r>
              <a:t>Management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696712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Price for resource intensity and urgency, not demographic proxies.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Problem 3 — How should hospital capacity be planned?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HRM / admission-demand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pic>
        <p:nvPicPr>
          <p:cNvPr id="6" name="Picture 5" descr="annual_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577840" cy="3108960"/>
          </a:xfrm>
          <a:prstGeom prst="rect">
            <a:avLst/>
          </a:prstGeom>
        </p:spPr>
      </p:pic>
      <p:pic>
        <p:nvPicPr>
          <p:cNvPr id="7" name="Picture 6" descr="monthly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3035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572000"/>
            <a:ext cx="3429000" cy="1280160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468172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5010912"/>
            <a:ext cx="30998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2019–2022 annual admissions remain near 2,000/year (1,973 → 2,044 → 2,063 → 2,001).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572000"/>
            <a:ext cx="3429000" cy="1280160"/>
          </a:xfrm>
          <a:prstGeom prst="roundRect">
            <a:avLst/>
          </a:prstGeom>
          <a:solidFill>
            <a:srgbClr val="F2F7F9"/>
          </a:solidFill>
          <a:ln>
            <a:solidFill>
              <a:srgbClr val="CD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468172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D792C"/>
                </a:solidFill>
                <a:latin typeface="Aptos"/>
              </a:defRPr>
            </a:pPr>
            <a:r>
              <a:t>Seasonality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5010912"/>
            <a:ext cx="30998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October is the strongest month in the complete 2019–2022 period (701 admissions); February is lowest (628).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572000"/>
            <a:ext cx="3429000" cy="1280160"/>
          </a:xfrm>
          <a:prstGeom prst="roundRect">
            <a:avLst/>
          </a:prstGeom>
          <a:solidFill>
            <a:srgbClr val="F2F7F9"/>
          </a:solidFill>
          <a:ln>
            <a:solidFill>
              <a:srgbClr val="B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468172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14646"/>
                </a:solidFill>
                <a:latin typeface="Aptos"/>
              </a:defRPr>
            </a:pPr>
            <a:r>
              <a:t>Important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5010912"/>
            <a:ext cx="30998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2018 and 2023 are partial years in this file, so they should not be treated as full-year comparisons.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Problem 4 — Where are operational pressure points?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Admission type, condition and test-result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pic>
        <p:nvPicPr>
          <p:cNvPr id="6" name="Picture 5" descr="admiss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212080" cy="3246120"/>
          </a:xfrm>
          <a:prstGeom prst="rect">
            <a:avLst/>
          </a:prstGeom>
        </p:spPr>
      </p:pic>
      <p:pic>
        <p:nvPicPr>
          <p:cNvPr id="7" name="Picture 6" descr="tes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4068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09160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22D37"/>
                </a:solidFill>
                <a:latin typeface="Aptos"/>
              </a:defRPr>
            </a:pPr>
            <a:r>
              <a:t>• Emergency + urgent admissions = 69.2% of all patients.</a:t>
            </a:r>
          </a:p>
          <a:p>
            <a:pPr>
              <a:spcAft>
                <a:spcPts val="900"/>
              </a:spcAft>
              <a:defRPr sz="1350">
                <a:solidFill>
                  <a:srgbClr val="222D37"/>
                </a:solidFill>
                <a:latin typeface="Aptos"/>
              </a:defRPr>
            </a:pPr>
            <a:r>
              <a:t>• Hypertension is the largest condition volume and has 993 emergency + 905 urgent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709160"/>
            <a:ext cx="4983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22D37"/>
                </a:solidFill>
                <a:latin typeface="Aptos"/>
              </a:defRPr>
            </a:pPr>
            <a:r>
              <a:t>• Abnormal tests = 34.6%; inconclusive = 32.8%; normal = 32.7%.</a:t>
            </a:r>
          </a:p>
          <a:p>
            <a:pPr>
              <a:spcAft>
                <a:spcPts val="900"/>
              </a:spcAft>
              <a:defRPr sz="1350">
                <a:solidFill>
                  <a:srgbClr val="222D37"/>
                </a:solidFill>
                <a:latin typeface="Aptos"/>
              </a:defRPr>
            </a:pPr>
            <a:r>
              <a:t>• The near-even split means test result alone should not be used as a cost proxy.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Dashboard &amp; Data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What should be fixed before using the dashboard for management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1371600"/>
          </a:xfrm>
          <a:prstGeom prst="roundRect">
            <a:avLst/>
          </a:prstGeom>
          <a:solidFill>
            <a:srgbClr val="F2F7F9"/>
          </a:solidFill>
          <a:ln>
            <a:solidFill>
              <a:srgbClr val="B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4416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14646"/>
                </a:solidFill>
                <a:latin typeface="Aptos"/>
              </a:defRPr>
            </a:pPr>
            <a:r>
              <a:t>1. Grand Total in chart ranges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3099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The dashboard charts can include Grand Total rows, producing artificial spikes and distorting the visual scale. Exclude totals from chart source ranges.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371600"/>
          </a:xfrm>
          <a:prstGeom prst="roundRect">
            <a:avLst/>
          </a:prstGeom>
          <a:solidFill>
            <a:srgbClr val="F2F7F9"/>
          </a:solidFill>
          <a:ln>
            <a:solidFill>
              <a:srgbClr val="CD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4416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D792C"/>
                </a:solidFill>
                <a:latin typeface="Aptos"/>
              </a:defRPr>
            </a:pPr>
            <a:r>
              <a:t>2. Category standardization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673352"/>
            <a:ext cx="3099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Condition labels contain case variants (e.g., hypertension/Hypertension; ARTHRITIS/Arthritis). Standardize before pivots.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371600"/>
          </a:xfrm>
          <a:prstGeom prst="roundRect">
            <a:avLst/>
          </a:prstGeom>
          <a:solidFill>
            <a:srgbClr val="F2F7F9"/>
          </a:solidFill>
          <a:ln>
            <a:solidFill>
              <a:srgbClr val="CD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34416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D792C"/>
                </a:solidFill>
                <a:latin typeface="Aptos"/>
              </a:defRPr>
            </a:pPr>
            <a:r>
              <a:t>3. Blood-type cleanup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673352"/>
            <a:ext cx="3099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Variants such as “O -”, “AB -” and “0+” should be mapped to standardized blood-group values before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71800"/>
            <a:ext cx="3429000" cy="1371600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08152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4. Billing completeness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410712"/>
            <a:ext cx="3099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32 billing records are blank. KPI totals should clearly state whether missing values are excluded or imputed.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971800"/>
            <a:ext cx="3429000" cy="1371600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08152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5. Time-window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410712"/>
            <a:ext cx="3099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2018 begins in October and 2023 ends in October in the supplied data. Use full-year filters for year-over-year conclusions.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971800"/>
            <a:ext cx="3429000" cy="1371600"/>
          </a:xfrm>
          <a:prstGeom prst="roundRect">
            <a:avLst/>
          </a:prstGeom>
          <a:solidFill>
            <a:srgbClr val="F2F7F9"/>
          </a:solidFill>
          <a:ln>
            <a:solidFill>
              <a:srgbClr val="2F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3081528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7E55"/>
                </a:solidFill>
                <a:latin typeface="Aptos"/>
              </a:defRPr>
            </a:pPr>
            <a:r>
              <a:t>6. Dashboard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410712"/>
            <a:ext cx="30998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Keep KPI cards, business charts and diagnostic detail separate. Avoid mixing pivot totals with analytical series.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304A"/>
                </a:solidFill>
                <a:latin typeface="Aptos"/>
              </a:defRPr>
            </a:pPr>
            <a:r>
              <a:t>These are presentation/data-governance improvements — they do not change the core conclusions above.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From insight → decision → measurable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914400" cy="685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618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61872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D37"/>
                </a:solidFill>
                <a:latin typeface="Aptos"/>
              </a:defRPr>
            </a:pPr>
            <a:r>
              <a:t>Build condition × admission-type pricing bands; review cancer/diabetes pathways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20824"/>
            <a:ext cx="914400" cy="685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48255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48255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D37"/>
                </a:solidFill>
                <a:latin typeface="Aptos"/>
              </a:defRPr>
            </a:pPr>
            <a:r>
              <a:t>Protect emergency/urgent capacity and staff to a combined 69.2% demand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07208"/>
            <a:ext cx="914400" cy="685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626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3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Clinical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39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D37"/>
                </a:solidFill>
                <a:latin typeface="Aptos"/>
              </a:defRPr>
            </a:pPr>
            <a:r>
              <a:t>Prioritize hypertension and age-related arthritis capacity in older cohorts.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93591"/>
            <a:ext cx="914400" cy="685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62102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Data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21023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D37"/>
                </a:solidFill>
                <a:latin typeface="Aptos"/>
              </a:defRPr>
            </a:pPr>
            <a:r>
              <a:t>Standardize condition, blood group and billing fields before every refresh.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914400" cy="685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354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074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4074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D37"/>
                </a:solidFill>
                <a:latin typeface="Aptos"/>
              </a:defRPr>
            </a:pPr>
            <a:r>
              <a:t>Remove Grand Total from chart ranges; show partial-year flags and definitions.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66360"/>
            <a:ext cx="914400" cy="685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21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93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04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193792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D37"/>
                </a:solidFill>
                <a:latin typeface="Aptos"/>
              </a:defRPr>
            </a:pPr>
            <a:r>
              <a:t>Track monthly admissions, average bill, condition mix and emergency share as core KPIs.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989320"/>
            <a:ext cx="10424160" cy="384048"/>
          </a:xfrm>
          <a:prstGeom prst="roundRect">
            <a:avLst/>
          </a:prstGeom>
          <a:solidFill>
            <a:srgbClr val="F2F7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6099048"/>
            <a:ext cx="10094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80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6428231"/>
            <a:ext cx="10094976" cy="-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A cleaner dashboard should answer: What is changing? Why? Where is the operational impact? What action should management take?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Final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A concise management interpretation of the supplied Excel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304A"/>
                </a:solidFill>
                <a:latin typeface="Aptos"/>
              </a:defRPr>
            </a:pPr>
            <a:r>
              <a:t>The healthcare operation is primarily driven by condition intensity and admission urgency.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2D37"/>
                </a:solidFill>
                <a:latin typeface="Aptos"/>
              </a:defRPr>
            </a:pPr>
            <a:r>
              <a:t>Cancer leads billing • Emergency/urgent care dominates demand • Older cohorts carry more total billing through volume • Gender is balanced • Age and blood group are weak pricing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3063240" cy="118872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00984"/>
            <a:ext cx="2734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$65.3M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76472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Cancer billing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154680"/>
            <a:ext cx="3063240" cy="118872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3300984"/>
            <a:ext cx="2734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69.2%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776472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Emergency + urgent patients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54680"/>
            <a:ext cx="3063240" cy="1188720"/>
          </a:xfrm>
          <a:prstGeom prst="roundRect">
            <a:avLst/>
          </a:prstGeom>
          <a:solidFill>
            <a:srgbClr val="F2F7F9"/>
          </a:solidFill>
          <a:ln>
            <a:solidFill>
              <a:srgbClr val="D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300984"/>
            <a:ext cx="2734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304A"/>
                </a:solidFill>
                <a:latin typeface="Aptos"/>
              </a:defRPr>
            </a:pPr>
            <a:r>
              <a:t>r ≈ 0.01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776472"/>
            <a:ext cx="2734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47D"/>
                </a:solidFill>
                <a:latin typeface="Aptos"/>
              </a:defRPr>
            </a:pPr>
            <a:r>
              <a:t>Age vs. billing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10287000" cy="914400"/>
          </a:xfrm>
          <a:prstGeom prst="roundRect">
            <a:avLst/>
          </a:prstGeom>
          <a:solidFill>
            <a:srgbClr val="F2F7F9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10328"/>
            <a:ext cx="9957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304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239512"/>
            <a:ext cx="99578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Use the dashboard to allocate capacity and set condition/urgency-based pricing — but fix the chart ranges and category inconsistencies before presenting it as an executive KPI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04A"/>
                </a:solidFill>
                <a:latin typeface="Aptos Display"/>
              </a:defRPr>
            </a:pPr>
            <a:r>
              <a:t>Appendix —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47D"/>
                </a:solidFill>
                <a:latin typeface="Aptos"/>
              </a:defRPr>
            </a:pPr>
            <a:r>
              <a:t>Reference values used in the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47D"/>
                </a:solidFill>
                <a:latin typeface="Aptos"/>
              </a:defRPr>
            </a:pPr>
            <a:r>
              <a:t>Healthcare Analytics | Based on 10,000 patient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Total records: 10,000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Total recorded billing: $233,120,443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Average billing: $23,387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Missing billing values: 32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Cancer billing share: 28.0%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Cancer average bill: $39,668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Emergency admissions: 3,587 (35.9%)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Urgent admissions: 3,336 (33.4%)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Female / Male: 5,075 / 4,925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Age 70–82 billing share: 20.3%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2019–2022 monthly peak: October (701)</a:t>
            </a:r>
          </a:p>
          <a:p>
            <a:pPr>
              <a:spcAft>
                <a:spcPts val="900"/>
              </a:spcAft>
              <a:defRPr sz="1400">
                <a:solidFill>
                  <a:srgbClr val="222D37"/>
                </a:solidFill>
                <a:latin typeface="Aptos"/>
              </a:defRPr>
            </a:pPr>
            <a:r>
              <a:t>• Age vs billing correlation: 0.014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