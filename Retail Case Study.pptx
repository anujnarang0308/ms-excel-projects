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%20Ninja%20DA%20With%20GEN%20AI%20Course\Excel\Session%20datasets\Sessions\Session%2010__11__12______11_13_16-06-2026%20Data%20Analysis%20I%20n%20II%20n%20III\DA%20V%20Conclusion\SuperStore%20Case%20Study\Sample%20-%20Superstore%20(1)%20(1)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[Sample - Superstore at home.xls]1.highest sales and profits!PivotTable1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Sales and Profit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'1.highest sales and profits'!$B$3:$B$4</c:f>
              <c:strCache>
                <c:ptCount val="1"/>
                <c:pt idx="0">
                  <c:v>Sum of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'1.highest sales and profits'!$A$5:$A$8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'1.highest sales and profits'!$B$5:$B$8</c:f>
              <c:numCache>
                <c:formatCode>_(* #,##0.00_);_(* \(#,##0.00\);_(* "-"??_);_(@_)</c:formatCode>
                <c:ptCount val="3"/>
                <c:pt idx="0">
                  <c:v>836154.03299999656</c:v>
                </c:pt>
                <c:pt idx="1">
                  <c:v>741999.79529999977</c:v>
                </c:pt>
                <c:pt idx="2">
                  <c:v>719047.03200000292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CD-4672-9C01-D47396C42BAD}"/>
            </c:ext>
          </c:extLst>
        </c:ser>
        <c:ser>
          <c:idx val="1"/>
          <c:order val="1"/>
          <c:tx>
            <c:strRef>
              <c:f>'1.highest sales and profits'!$C$3:$C$4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'1.highest sales and profits'!$A$5:$A$8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'1.highest sales and profits'!$C$5:$C$8</c:f>
              <c:numCache>
                <c:formatCode>_(* #,##0.00_);_(* \(#,##0.00\);_(* "-"??_);_(@_)</c:formatCode>
                <c:ptCount val="3"/>
                <c:pt idx="0">
                  <c:v>145454.9480999998</c:v>
                </c:pt>
                <c:pt idx="1">
                  <c:v>18451.272799999992</c:v>
                </c:pt>
                <c:pt idx="2">
                  <c:v>122490.8008000001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CD-4672-9C01-D47396C42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70449536"/>
        <c:axId val="370450016"/>
      </c:barChart>
      <c:lineChart>
        <c:grouping val="standard"/>
        <c:varyColors val="0"/>
        <c:ser>
          <c:idx val="2"/>
          <c:order val="2"/>
          <c:tx>
            <c:strRef>
              <c:f>'1.highest sales and profits'!$D$3:$D$4</c:f>
              <c:strCache>
                <c:ptCount val="1"/>
                <c:pt idx="0">
                  <c:v>Sum of Profit Margin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'1.highest sales and profits'!$A$5:$A$8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'1.highest sales and profits'!$D$5:$D$8</c:f>
              <c:numCache>
                <c:formatCode>0.00%</c:formatCode>
                <c:ptCount val="3"/>
                <c:pt idx="0">
                  <c:v>0.17395712076891987</c:v>
                </c:pt>
                <c:pt idx="1">
                  <c:v>2.4866951334588862E-2</c:v>
                </c:pt>
                <c:pt idx="2">
                  <c:v>0.17035158390028596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FCD-4672-9C01-D47396C42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0486976"/>
        <c:axId val="370489376"/>
      </c:lineChart>
      <c:catAx>
        <c:axId val="37044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450016"/>
        <c:crosses val="autoZero"/>
        <c:auto val="1"/>
        <c:lblAlgn val="ctr"/>
        <c:lblOffset val="100"/>
        <c:noMultiLvlLbl val="0"/>
      </c:catAx>
      <c:valAx>
        <c:axId val="37045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449536"/>
        <c:crosses val="autoZero"/>
        <c:crossBetween val="between"/>
      </c:valAx>
      <c:valAx>
        <c:axId val="37048937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486976"/>
        <c:crosses val="max"/>
        <c:crossBetween val="between"/>
      </c:valAx>
      <c:catAx>
        <c:axId val="3704869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704893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176F1-C4BA-4F5C-9293-8AC98C79CFB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8E26D-AF78-4186-9C87-AE1C56652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199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8E26D-AF78-4186-9C87-AE1C56652E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31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50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57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16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32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29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28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73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68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180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35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104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1F61-444F-423F-AB54-40AAB000809D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D08F4AF-1B18-442E-B223-CBA42189521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3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7A4D-15DF-862C-E3DA-35F6F6F95F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Superstore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07B0E-110B-5D97-0DE9-03B0D4F519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Anuj Narang</a:t>
            </a:r>
          </a:p>
        </p:txBody>
      </p:sp>
    </p:spTree>
    <p:extLst>
      <p:ext uri="{BB962C8B-B14F-4D97-AF65-F5344CB8AC3E}">
        <p14:creationId xmlns:p14="http://schemas.microsoft.com/office/powerpoint/2010/main" val="2362937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617D6D-08BD-DDB5-03E0-795B6B00FB34}"/>
              </a:ext>
            </a:extLst>
          </p:cNvPr>
          <p:cNvSpPr txBox="1"/>
          <p:nvPr/>
        </p:nvSpPr>
        <p:spPr>
          <a:xfrm>
            <a:off x="1286189" y="944545"/>
            <a:ext cx="9576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1. Which category contributes the highest sales and profits?</a:t>
            </a:r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02626D5-6A98-2D29-FD95-5184E84465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8571645"/>
              </p:ext>
            </p:extLst>
          </p:nvPr>
        </p:nvGraphicFramePr>
        <p:xfrm>
          <a:off x="3810000" y="183125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4083F7-C554-828B-33E9-45835EC24B42}"/>
              </a:ext>
            </a:extLst>
          </p:cNvPr>
          <p:cNvSpPr txBox="1"/>
          <p:nvPr/>
        </p:nvSpPr>
        <p:spPr>
          <a:xfrm>
            <a:off x="1355015" y="4422787"/>
            <a:ext cx="90937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Technology</a:t>
            </a:r>
            <a:r>
              <a:rPr lang="en-IN" dirty="0"/>
              <a:t> leads with the highest sales of ₹8,36,154.03 and a strong profit of ₹1,45,454.95, achieving a </a:t>
            </a:r>
            <a:r>
              <a:rPr lang="en-IN" b="1" dirty="0"/>
              <a:t>profit margin of 17.40%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Furniture</a:t>
            </a:r>
            <a:r>
              <a:rPr lang="en-IN" dirty="0"/>
              <a:t> shows moderate sales at ₹7,41,999.80 but a very low profit of ₹18,451.27, resulting in a </a:t>
            </a:r>
            <a:r>
              <a:rPr lang="en-IN" b="1" dirty="0"/>
              <a:t>profit margin of only 2%</a:t>
            </a:r>
            <a:r>
              <a:rPr lang="en-IN" dirty="0"/>
              <a:t> — the weakest among all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Office Supplies</a:t>
            </a:r>
            <a:r>
              <a:rPr lang="en-IN" dirty="0"/>
              <a:t> performs comparably to Furniture in sales (₹7,19,047.03) but earns a much higher profit of ₹1,22,490.80, matching Technology’s </a:t>
            </a:r>
            <a:r>
              <a:rPr lang="en-IN" b="1" dirty="0"/>
              <a:t>17.04% margin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87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6961-F234-EABC-8340-FA2E2D098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2. Which products should be promoted further?</a:t>
            </a:r>
            <a:br>
              <a:rPr lang="en-IN" sz="1800" dirty="0"/>
            </a:br>
            <a:endParaRPr lang="en-IN" sz="18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8572263-671A-7B14-2927-7030CB886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681031"/>
              </p:ext>
            </p:extLst>
          </p:nvPr>
        </p:nvGraphicFramePr>
        <p:xfrm>
          <a:off x="2760662" y="2059912"/>
          <a:ext cx="6985000" cy="2512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0">
                  <a:extLst>
                    <a:ext uri="{9D8B030D-6E8A-4147-A177-3AD203B41FA5}">
                      <a16:colId xmlns:a16="http://schemas.microsoft.com/office/drawing/2014/main" val="4156051991"/>
                    </a:ext>
                  </a:extLst>
                </a:gridCol>
              </a:tblGrid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Dual Level, Single-Width Filing Carts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9601047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Iceberg Mobile Mega Data/Printer Cart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9056955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Honeywell Enviracaire Portable HEPA Air Cleaner for 17' x 22' Room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5629759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Tennsco 6- and 18-Compartment Lockers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51670605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Hot File 7-Pocket, Floor Stand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41105597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Adjustable Depth Letter/Legal Cart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5649820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Logitech P710e Mobile Speakerphone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8947520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Standard Rollaway File with Lock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83265216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Plantronics CS510 - Over-the-Head monaural Wireless Headset System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2942462"/>
                  </a:ext>
                </a:extLst>
              </a:tr>
              <a:tr h="251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Logitech </a:t>
                      </a:r>
                      <a:r>
                        <a:rPr lang="en-IN" sz="1200" u="none" strike="noStrike" dirty="0" err="1">
                          <a:effectLst/>
                        </a:rPr>
                        <a:t>diNovo</a:t>
                      </a:r>
                      <a:r>
                        <a:rPr lang="en-IN" sz="1200" u="none" strike="noStrike" dirty="0">
                          <a:effectLst/>
                        </a:rPr>
                        <a:t> Edge Keyboard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2516574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1B7DA5D-4917-2E22-0489-93701F9D3FD0}"/>
              </a:ext>
            </a:extLst>
          </p:cNvPr>
          <p:cNvSpPr txBox="1"/>
          <p:nvPr/>
        </p:nvSpPr>
        <p:spPr>
          <a:xfrm>
            <a:off x="944545" y="4732774"/>
            <a:ext cx="1064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Opp score is the driving factor for top products for promotion.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53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955B-0AB7-CAA1-56B7-8C3B176C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3. Which states and regions need attention due to poor profitability?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69F35A-8E32-4557-9222-44E22BAA0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54137"/>
              </p:ext>
            </p:extLst>
          </p:nvPr>
        </p:nvGraphicFramePr>
        <p:xfrm>
          <a:off x="2858920" y="1853754"/>
          <a:ext cx="201930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424825820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71365523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496555196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Central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Texas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-25729.4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5073490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Illinois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-12607.9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91162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East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Ohio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-16971.4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4054210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Pennsylvania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-15560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4035054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South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North Carolina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-7490.91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960688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Tennessee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-5341.69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389099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Florida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-3399.3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9971919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West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Colorado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-6527.86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283397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Arizona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-3427.92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9813192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Oregon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-1190.47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00518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670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55E-9C08-9F0A-3CFA-B72A7CCF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Does offering discounts improve sales at the expense of profits?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61CB6-0D3C-93C7-6FE2-422BE8FCC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Correl btw the  2 is 0.8645 which is very high are -</a:t>
            </a:r>
            <a:r>
              <a:rPr lang="en-IN" dirty="0" err="1"/>
              <a:t>vely</a:t>
            </a:r>
            <a:r>
              <a:rPr lang="en-IN" dirty="0"/>
              <a:t> correlated.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1552DA-2F76-F972-0004-7D419EC8754D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83820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288244120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-0.8644523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2936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8AD5-6E7E-8F36-AF6F-4A03DE0F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Which customer segment is most valuable to the business?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639F94-909A-0A30-E35A-97E41664F1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243720"/>
              </p:ext>
            </p:extLst>
          </p:nvPr>
        </p:nvGraphicFramePr>
        <p:xfrm>
          <a:off x="4303766" y="1937217"/>
          <a:ext cx="38989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3072919397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457905887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46462453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419002051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4173072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Segment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Sum of Sales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Sum of Profit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Sum of Sum of PM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131454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Consumer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1161401.345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134119.2092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117736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Corporate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706146.3668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91979.134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13%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475081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Home Office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429653.1485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60298.6785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1775288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Grand Total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2297200.86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286397.0217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0.124672172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606359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35A68D-0B09-2F95-3AAA-47372CFCBCCC}"/>
              </a:ext>
            </a:extLst>
          </p:cNvPr>
          <p:cNvSpPr txBox="1"/>
          <p:nvPr/>
        </p:nvSpPr>
        <p:spPr>
          <a:xfrm>
            <a:off x="560439" y="3569110"/>
            <a:ext cx="11493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Home office has good PM% but when we see actual numbers it is Consumer segment drives more for sales n profit</a:t>
            </a:r>
          </a:p>
        </p:txBody>
      </p:sp>
    </p:spTree>
    <p:extLst>
      <p:ext uri="{BB962C8B-B14F-4D97-AF65-F5344CB8AC3E}">
        <p14:creationId xmlns:p14="http://schemas.microsoft.com/office/powerpoint/2010/main" val="3786810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1CFF-A6FF-C69C-4AD8-C578AB883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Which shipping mode provides the best balance between delivery time and profitability?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4FE428-B004-D6C4-13EA-7FF3E5C5D8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3314223"/>
              </p:ext>
            </p:extLst>
          </p:nvPr>
        </p:nvGraphicFramePr>
        <p:xfrm>
          <a:off x="2774950" y="1853754"/>
          <a:ext cx="6642100" cy="1562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40815794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4076186208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3437722457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44205967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52530580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914598783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Ship Mode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Sum of Sales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Sum of Profit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Sum of PM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Count of Order ID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Average of delivery days2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9020280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#DIV/0!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6854748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First Class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351428.4229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48969.8399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178.3277311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1538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2.182704811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231912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Same Day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128363.125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15891.7589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75.01618114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0.044198895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236431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Second Class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459193.5694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57446.6354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292.1560827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1945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3.238046272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71056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Standard Class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1358215.743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164088.7875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656.9174187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5968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5.006534853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6495066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Grand Total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2297200.86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286397.0217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#DIV/0!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9995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3.957778889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724939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F4136F-D033-2398-D1CA-7480BC7932DB}"/>
              </a:ext>
            </a:extLst>
          </p:cNvPr>
          <p:cNvSpPr txBox="1"/>
          <p:nvPr/>
        </p:nvSpPr>
        <p:spPr>
          <a:xfrm>
            <a:off x="599768" y="4316361"/>
            <a:ext cx="1134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Second Class</a:t>
            </a:r>
          </a:p>
        </p:txBody>
      </p:sp>
    </p:spTree>
    <p:extLst>
      <p:ext uri="{BB962C8B-B14F-4D97-AF65-F5344CB8AC3E}">
        <p14:creationId xmlns:p14="http://schemas.microsoft.com/office/powerpoint/2010/main" val="35902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211F-8718-D577-FF2B-D5653063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recommendations would you provide to management to improve overall business performance?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E72-7897-A443-FEFE-C1B1EF094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above slides, </a:t>
            </a:r>
            <a:r>
              <a:rPr lang="en-IN"/>
              <a:t>Quick summary.</a:t>
            </a:r>
          </a:p>
        </p:txBody>
      </p:sp>
    </p:spTree>
    <p:extLst>
      <p:ext uri="{BB962C8B-B14F-4D97-AF65-F5344CB8AC3E}">
        <p14:creationId xmlns:p14="http://schemas.microsoft.com/office/powerpoint/2010/main" val="29098077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650</TotalTime>
  <Words>452</Words>
  <Application>Microsoft Office PowerPoint</Application>
  <PresentationFormat>Widescreen</PresentationFormat>
  <Paragraphs>125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Gill Sans MT</vt:lpstr>
      <vt:lpstr>Gallery</vt:lpstr>
      <vt:lpstr>Superstore Case Study</vt:lpstr>
      <vt:lpstr>PowerPoint Presentation</vt:lpstr>
      <vt:lpstr>2. Which products should be promoted further? </vt:lpstr>
      <vt:lpstr>3. Which states and regions need attention due to poor profitability? </vt:lpstr>
      <vt:lpstr>Does offering discounts improve sales at the expense of profits? </vt:lpstr>
      <vt:lpstr>Which customer segment is most valuable to the business? </vt:lpstr>
      <vt:lpstr>Which shipping mode provides the best balance between delivery time and profitability? </vt:lpstr>
      <vt:lpstr>What recommendations would you provide to management to improve overall business performance?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Anuj Narang</dc:creator>
  <cp:lastModifiedBy>Anuj Narang</cp:lastModifiedBy>
  <cp:revision>7</cp:revision>
  <dcterms:created xsi:type="dcterms:W3CDTF">2026-06-21T09:12:25Z</dcterms:created>
  <dcterms:modified xsi:type="dcterms:W3CDTF">2026-06-21T20:05:07Z</dcterms:modified>
</cp:coreProperties>
</file>