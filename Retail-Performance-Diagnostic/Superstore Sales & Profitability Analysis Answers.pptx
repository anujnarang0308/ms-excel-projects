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bold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815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38350"/>
            <a:ext cx="2143125" cy="276225"/>
          </a:xfrm>
          <a:prstGeom prst="roundRect">
            <a:avLst>
              <a:gd name="adj" fmla="val 1379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543175"/>
            <a:ext cx="9101137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 dirty="0">
                <a:solidFill>
                  <a:srgbClr val="FFFFFF"/>
                </a:solidFill>
                <a:latin typeface="Plus Jakarta Sans"/>
              </a:rPr>
              <a:t>Superstore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95500"/>
            <a:ext cx="1933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CASE STUDY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7025" y="2095500"/>
            <a:ext cx="6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24475"/>
            <a:ext cx="109728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24137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624137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624137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624137"/>
            <a:ext cx="26003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2413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0425" y="2624137"/>
            <a:ext cx="38100" cy="1152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0" y="2624137"/>
            <a:ext cx="38100" cy="11525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82075" y="2624137"/>
            <a:ext cx="38100" cy="1152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8200" y="6076950"/>
            <a:ext cx="33528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19600" y="6076950"/>
            <a:ext cx="33528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01000" y="6076950"/>
            <a:ext cx="33528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200" y="6076950"/>
            <a:ext cx="1220390" cy="95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9600" y="6076950"/>
            <a:ext cx="1082873" cy="95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6076950"/>
            <a:ext cx="1049387" cy="95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Inter"/>
              </a:rPr>
              <a:t>SECTION B: SALES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440986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Core Sales Totals &amp; Category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553075"/>
            <a:ext cx="11353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Q6: Category Sales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814637"/>
            <a:ext cx="2726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TOTAL SALES (Q5)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014662"/>
            <a:ext cx="272653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$2,297,201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433762"/>
            <a:ext cx="2726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Across 9,994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9025" y="2814637"/>
            <a:ext cx="2726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TOTAL PROFIT (Q5)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9025" y="3014662"/>
            <a:ext cx="272653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$286,397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9025" y="3433762"/>
            <a:ext cx="2726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12.47% Net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850" y="2814637"/>
            <a:ext cx="2726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AVG SALES / ORDER (Q5)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850" y="3014662"/>
            <a:ext cx="272653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$229.85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850" y="3433762"/>
            <a:ext cx="2726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Per Transaction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0675" y="2814637"/>
            <a:ext cx="2726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QUANTITY SOLD (Q5)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0675" y="3014662"/>
            <a:ext cx="272653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37,873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0675" y="3433762"/>
            <a:ext cx="2726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Total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5857875"/>
            <a:ext cx="10572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9425" y="5857875"/>
            <a:ext cx="14644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$836,154 (36.4%)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9600" y="5857875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Furniture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9875" y="5857875"/>
            <a:ext cx="1440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$741,999 (32.3%)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5857875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Office Supplies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0325" y="5857875"/>
            <a:ext cx="14192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$719,047 (31.3%)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28725"/>
            <a:ext cx="6260008" cy="5172075"/>
          </a:xfrm>
          <a:prstGeom prst="roundRect">
            <a:avLst>
              <a:gd name="adj" fmla="val 22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60108" y="1228725"/>
            <a:ext cx="4522291" cy="1038225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60108" y="2419350"/>
            <a:ext cx="4522291" cy="1228725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0100" y="1724025"/>
          <a:ext cx="5879007" cy="1905000"/>
        </p:xfrm>
        <a:graphic>
          <a:graphicData uri="http://schemas.openxmlformats.org/drawingml/2006/table">
            <a:tbl>
              <a:tblPr/>
              <a:tblGrid>
                <a:gridCol w="3970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Inter"/>
                        </a:rPr>
                        <a:t>PRODUCT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64748B"/>
                          </a:solidFill>
                          <a:latin typeface="Inter"/>
                        </a:rPr>
                        <a:t>SALES (Q7)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64748B"/>
                          </a:solidFill>
                          <a:latin typeface="Inter"/>
                        </a:rPr>
                        <a:t>PROFIT (Q8)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Canon imageCLASS 2200 Advanced Copier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$61,599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+$25,199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Fellowes PB500 Electric Punch Binding Machine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$27,453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+$7,753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Cisco TelePresence System EX90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$22,638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EF4444"/>
                          </a:solidFill>
                          <a:latin typeface="Inter"/>
                        </a:rPr>
                        <a:t>-$1,811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HON 5400 Series Task Arm Chair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$21,870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+$0,000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HP Designjet T2300 eMultifunction Printer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$12,740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+$4,094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B: SALES &amp;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606390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Top Products &amp; Profit Winners vs. Loss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419225"/>
            <a:ext cx="164910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Standout Product 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0133" y="1428750"/>
            <a:ext cx="137537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66534"/>
                </a:solidFill>
                <a:latin typeface="Inter"/>
              </a:rPr>
              <a:t>IGHEST PROFIT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133" y="1619250"/>
            <a:ext cx="493186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5803D"/>
                </a:solidFill>
                <a:latin typeface="Inter"/>
              </a:rPr>
              <a:t>Technology ($145,455)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0133" y="1905000"/>
            <a:ext cx="493186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66534"/>
                </a:solidFill>
                <a:latin typeface="Inter"/>
              </a:rPr>
              <a:t>Generates 50.8% of all store profits with a strong 17.4% margin.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33" y="2619375"/>
            <a:ext cx="193803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991B1B"/>
                </a:solidFill>
                <a:latin typeface="Inter"/>
              </a:rPr>
              <a:t>SUB-CATEGORIES INCURRING LOSSES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133" y="2847975"/>
            <a:ext cx="847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F1D1D"/>
                </a:solidFill>
                <a:latin typeface="Inter"/>
              </a:rPr>
              <a:t>1.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0" y="2847975"/>
            <a:ext cx="1190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-$17,725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133" y="3067050"/>
            <a:ext cx="11620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F1D1D"/>
                </a:solidFill>
                <a:latin typeface="Inter"/>
              </a:rPr>
              <a:t>2. Bookcases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6075" y="3067050"/>
            <a:ext cx="11620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-$3,473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133" y="3286125"/>
            <a:ext cx="10191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F1D1D"/>
                </a:solidFill>
                <a:latin typeface="Inter"/>
              </a:rPr>
              <a:t>3. Supplies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3225" y="3286125"/>
            <a:ext cx="1104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-$1,189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89151"/>
            <a:ext cx="10972800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06475"/>
            <a:ext cx="37338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33900" y="1806475"/>
            <a:ext cx="70485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971877"/>
            <a:ext cx="5391150" cy="428625"/>
          </a:xfrm>
          <a:prstGeom prst="roundRect">
            <a:avLst>
              <a:gd name="adj" fmla="val 1777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5971877"/>
            <a:ext cx="5391150" cy="428625"/>
          </a:xfrm>
          <a:prstGeom prst="roundRect">
            <a:avLst>
              <a:gd name="adj" fmla="val 1777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806475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33900" y="1806475"/>
            <a:ext cx="38100" cy="1152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0100" y="4184451"/>
            <a:ext cx="34035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94150" y="4184451"/>
            <a:ext cx="34035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8200" y="4184451"/>
            <a:ext cx="34035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C: CUSTOMER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526426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Customer Metrics &amp; Segment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879651"/>
            <a:ext cx="20806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Sales Across Customer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996975"/>
            <a:ext cx="110927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  <a:latin typeface="Inter"/>
              </a:rPr>
              <a:t>UNIQUE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187475"/>
            <a:ext cx="41433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793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616100"/>
            <a:ext cx="4143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Active accounts in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0" y="1996975"/>
            <a:ext cx="15244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  <a:latin typeface="Inter"/>
              </a:rPr>
              <a:t>MOST PROFITABLE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2187475"/>
            <a:ext cx="7429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Consumer Segment ($134,119)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616100"/>
            <a:ext cx="742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Delivers 46.8% of total profit, followed by Corporate ($91,979) &amp; Home Office ($60,299)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6105227"/>
            <a:ext cx="6262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Q12 Top Sales Customer: Sean Miller ($25,043)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0" y="6105227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Inter"/>
              </a:rPr>
              <a:t>Q13 Top Profit Customer: Tamara Chand ($8,981 Profit)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4336851"/>
            <a:ext cx="3873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4498776"/>
            <a:ext cx="38734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Inter"/>
              </a:rPr>
              <a:t>$1,161,401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4746426"/>
            <a:ext cx="3873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50.6% Sales Share | 5,191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6550" y="4336851"/>
            <a:ext cx="3873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Corporate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6550" y="4498776"/>
            <a:ext cx="38734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366F1"/>
                </a:solidFill>
                <a:latin typeface="Inter"/>
              </a:rPr>
              <a:t>$706,146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6550" y="4746426"/>
            <a:ext cx="3873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30.7% Sales Share | 3,020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0600" y="4336851"/>
            <a:ext cx="3873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Home Office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0600" y="4498776"/>
            <a:ext cx="38734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$429,653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0600" y="4746426"/>
            <a:ext cx="3873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18.7% Sales Share | 1,783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1975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28837"/>
            <a:ext cx="54102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128837"/>
            <a:ext cx="54102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24237"/>
            <a:ext cx="54102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424237"/>
            <a:ext cx="54102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128837"/>
            <a:ext cx="54102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2128837"/>
            <a:ext cx="54102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424237"/>
            <a:ext cx="54102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3424237"/>
            <a:ext cx="5410200" cy="28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33925" y="2357437"/>
            <a:ext cx="1095375" cy="180975"/>
          </a:xfrm>
          <a:prstGeom prst="roundRect">
            <a:avLst>
              <a:gd name="adj" fmla="val 2105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58425" y="3652837"/>
            <a:ext cx="1133475" cy="180975"/>
          </a:xfrm>
          <a:prstGeom prst="roundRect">
            <a:avLst>
              <a:gd name="adj" fmla="val 2105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D: REGIONAL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294439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Region &amp; State Leaders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586037"/>
            <a:ext cx="6286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Inter"/>
              </a:rPr>
              <a:t>$108,418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919412"/>
            <a:ext cx="6286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Sales: $725,458 | Margin: 14.9%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2347912"/>
            <a:ext cx="5829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East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2700" y="2586037"/>
            <a:ext cx="58293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Inter"/>
              </a:rPr>
              <a:t>$91,523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2700" y="2919412"/>
            <a:ext cx="58293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Sales: $678,781 | Margin: 13.5%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643312"/>
            <a:ext cx="66008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South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3881437"/>
            <a:ext cx="62865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Inter"/>
              </a:rPr>
              <a:t>$46,749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214812"/>
            <a:ext cx="6286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Sales: $391,722 | Margin: 11.9%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3881437"/>
            <a:ext cx="58293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F4444"/>
                </a:solidFill>
                <a:latin typeface="Inter"/>
              </a:rPr>
              <a:t>$39,706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4214812"/>
            <a:ext cx="58293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Sales: $501,240 | Margin: 7.9%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810250"/>
            <a:ext cx="34647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Q17: STATE WITH HIGHEST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5962650"/>
            <a:ext cx="346471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C4A6E"/>
                </a:solidFill>
                <a:latin typeface="Inter"/>
              </a:rPr>
              <a:t>California ($457,688 Sales)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1725" y="5853112"/>
            <a:ext cx="13620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>
                <a:solidFill>
                  <a:srgbClr val="0F172A"/>
                </a:solidFill>
                <a:latin typeface="Inter"/>
              </a:rPr>
              <a:t>+$76,381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1725" y="6015037"/>
            <a:ext cx="1362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0369A1"/>
                </a:solidFill>
                <a:latin typeface="Inter"/>
              </a:rPr>
              <a:t>1,993 Total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2347912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West Region (Q20: BEST)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0125" y="2376487"/>
            <a:ext cx="1038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HIGHEST PROFIT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2700" y="3643312"/>
            <a:ext cx="32879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Central Region (Q20: WORST)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4625" y="3671887"/>
            <a:ext cx="1076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91C1C"/>
                </a:solidFill>
                <a:latin typeface="Inter"/>
              </a:rPr>
              <a:t>LOWEST MARGIN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90625"/>
            <a:ext cx="4918323" cy="5210175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6523" y="1190625"/>
            <a:ext cx="5825876" cy="5210175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190625"/>
            <a:ext cx="4918323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7023" y="3124200"/>
            <a:ext cx="5444876" cy="771525"/>
          </a:xfrm>
          <a:prstGeom prst="roundRect">
            <a:avLst>
              <a:gd name="adj" fmla="val 987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7023" y="5448300"/>
            <a:ext cx="5444876" cy="7620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7023" y="3124200"/>
            <a:ext cx="38100" cy="771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7023" y="5448300"/>
            <a:ext cx="38100" cy="762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38275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D: GEOGRAPHIC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491275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Negative Profit States &amp; City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1419225"/>
            <a:ext cx="1795684" cy="184666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991B1B"/>
                </a:solidFill>
                <a:latin typeface="Inter"/>
              </a:rPr>
              <a:t>Top Negative Profit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124200"/>
            <a:ext cx="56716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10 states in total incur negative net profits due to aggressive discounting.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7023" y="1381125"/>
            <a:ext cx="177471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City 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8473" y="3257550"/>
            <a:ext cx="607352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Inter"/>
              </a:rPr>
              <a:t>TOP CITY: NEW YORK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8473" y="3409950"/>
            <a:ext cx="607352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Inter"/>
              </a:rPr>
              <a:t>$256,368 Sales | +$62,037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8473" y="3609975"/>
            <a:ext cx="607352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66534"/>
                </a:solidFill>
                <a:latin typeface="Inter"/>
              </a:rPr>
              <a:t>Highest contributing city with healthy margins.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8473" y="5581650"/>
            <a:ext cx="607352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91B1B"/>
                </a:solidFill>
                <a:latin typeface="Inter"/>
              </a:rPr>
              <a:t>WORST CITIES: PHILADELPHIA &amp; HOUSTON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8473" y="5734050"/>
            <a:ext cx="607352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91C1C"/>
                </a:solidFill>
                <a:latin typeface="Inter"/>
              </a:rPr>
              <a:t>Philadelphia: -$13,837 | Houston: -$10,153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8473" y="5924550"/>
            <a:ext cx="607352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Inter"/>
              </a:rPr>
              <a:t>High sales volume overridden by 30%+ average promotional discounts.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724025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1. Texas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298" y="1724025"/>
            <a:ext cx="904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-$25,729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2009775"/>
            <a:ext cx="762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2. Ohio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5448" y="2009775"/>
            <a:ext cx="847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-$16,971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2295525"/>
            <a:ext cx="13239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3. Pennsylvania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7348" y="2295525"/>
            <a:ext cx="885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-$15,560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2581275"/>
            <a:ext cx="885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4. Illinois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7348" y="2581275"/>
            <a:ext cx="885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-$12,608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2867025"/>
            <a:ext cx="14192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5. North Carolina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5448" y="2867025"/>
            <a:ext cx="847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Inter"/>
              </a:rPr>
              <a:t>-$11,557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572125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09850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609850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609850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09850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0749" y="2609850"/>
            <a:ext cx="353064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51899" y="2609850"/>
            <a:ext cx="353064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E: PRODUCT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559242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Category Comparison &amp; Star Sub-Category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838450"/>
            <a:ext cx="41339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114675"/>
            <a:ext cx="39370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Inter"/>
              </a:rPr>
              <a:t>$836,154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429000"/>
            <a:ext cx="3937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+$145,455 Profit (17.4%)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695700"/>
            <a:ext cx="3937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High margin, high value per transaction.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49" y="2838450"/>
            <a:ext cx="41339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Office Supplies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249" y="3114675"/>
            <a:ext cx="39370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$719,047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49" y="3429000"/>
            <a:ext cx="3937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+$122,491 Profit (17.0%)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49" y="3695700"/>
            <a:ext cx="3937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Volume driver with 22,900+ units sold.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2399" y="2838450"/>
            <a:ext cx="3949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Furniture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2399" y="3114675"/>
            <a:ext cx="39370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Inter"/>
              </a:rPr>
              <a:t>$741,999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399" y="3429000"/>
            <a:ext cx="3937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Inter"/>
              </a:rPr>
              <a:t>+$18,451 Profit (2.5%)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2399" y="3695700"/>
            <a:ext cx="3937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Low margin due to heavy Table discounting.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772150"/>
            <a:ext cx="3917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Inter"/>
              </a:rPr>
              <a:t>Q22: MOST PROFITABLE SUB-CATEGORY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5924550"/>
            <a:ext cx="39171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5803D"/>
                </a:solidFill>
                <a:latin typeface="Inter"/>
              </a:rPr>
              <a:t>Copiers ($55,618 Net Profit)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337" y="5819775"/>
            <a:ext cx="2547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25" b="1" i="0" u="none">
                <a:solidFill>
                  <a:srgbClr val="166534"/>
                </a:solidFill>
                <a:latin typeface="Inter"/>
              </a:rPr>
              <a:t>37.2% Profit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337" y="6000750"/>
            <a:ext cx="2547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166534"/>
                </a:solidFill>
                <a:latin typeface="Inter"/>
              </a:rPr>
              <a:t>Only 68 total units sold nationwide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90625"/>
            <a:ext cx="4918323" cy="5210175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6523" y="1190625"/>
            <a:ext cx="5825876" cy="5210175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" y="5267325"/>
            <a:ext cx="4537323" cy="942975"/>
          </a:xfrm>
          <a:prstGeom prst="roundRect">
            <a:avLst>
              <a:gd name="adj" fmla="val 808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7023" y="1876425"/>
            <a:ext cx="5444876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7023" y="2257425"/>
            <a:ext cx="5444876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7023" y="2638425"/>
            <a:ext cx="5444876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7023" y="1876425"/>
            <a:ext cx="4628108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7023" y="2257425"/>
            <a:ext cx="1905595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7023" y="2638425"/>
            <a:ext cx="3811339" cy="76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E: PRICING &amp; DISCOUNTS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568751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High Sales / Low Profit &amp; The Discount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7023" y="1381125"/>
            <a:ext cx="624497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Q24: Effect of Discounts on Profits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7023" y="2867025"/>
            <a:ext cx="554012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Conclusion: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Discounts above 20% directly erase product profit margins across all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381125"/>
            <a:ext cx="595523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Q23: High Sales, Low/Negative Profits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647825"/>
            <a:ext cx="463257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Tables: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$206,964 Sales vs </a:t>
            </a:r>
            <a:r>
              <a:rPr sz="1050" b="1" i="0" u="none">
                <a:solidFill>
                  <a:srgbClr val="EF4444"/>
                </a:solidFill>
                <a:latin typeface="Inter"/>
              </a:rPr>
              <a:t>-$17,725 Profit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Bookcases: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$114,880 Sales vs </a:t>
            </a:r>
            <a:r>
              <a:rPr sz="1050" b="1" i="0" u="none">
                <a:solidFill>
                  <a:srgbClr val="EF4444"/>
                </a:solidFill>
                <a:latin typeface="Inter"/>
              </a:rPr>
              <a:t>-$3,473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5410200"/>
            <a:ext cx="558018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F1239"/>
                </a:solidFill>
                <a:latin typeface="Inter"/>
              </a:rPr>
              <a:t>Q25: Products Generating Consistent 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5610225"/>
            <a:ext cx="43468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81337"/>
                </a:solidFill>
                <a:latin typeface="Inter"/>
              </a:rPr>
              <a:t>Items sold with </a:t>
            </a:r>
            <a:r>
              <a:rPr sz="975" b="1" i="0" u="none">
                <a:solidFill>
                  <a:srgbClr val="881337"/>
                </a:solidFill>
                <a:latin typeface="Inter"/>
              </a:rPr>
              <a:t>discounts over 20%</a:t>
            </a:r>
            <a:r>
              <a:rPr sz="975" b="0" i="0" u="none">
                <a:solidFill>
                  <a:srgbClr val="881337"/>
                </a:solidFill>
                <a:latin typeface="Inter"/>
              </a:rPr>
              <a:t> (e.g., Binders at 70-80% off, Tables in Texas/Illinois) repeatedly generate losses on every transaction.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7023" y="1685925"/>
            <a:ext cx="1452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0% – 10%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7900" y="1685925"/>
            <a:ext cx="1905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+18.2% Margin (Healthy)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7023" y="2066925"/>
            <a:ext cx="1535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15% – 20% Discount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4550" y="2066925"/>
            <a:ext cx="2071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+4.8% Margin (Breakeven)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7023" y="2447925"/>
            <a:ext cx="1247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&gt; 20%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1675" y="2447925"/>
            <a:ext cx="2250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Inter"/>
              </a:rPr>
              <a:t>-32.4% Loss Margin (Critical)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52675"/>
            <a:ext cx="54102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352675"/>
            <a:ext cx="54102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638550"/>
            <a:ext cx="54102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638550"/>
            <a:ext cx="54102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352675"/>
            <a:ext cx="38100" cy="11334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2352675"/>
            <a:ext cx="38100" cy="1133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638550"/>
            <a:ext cx="38100" cy="11334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3638550"/>
            <a:ext cx="38100" cy="11334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91075" y="2552700"/>
            <a:ext cx="1038225" cy="180975"/>
          </a:xfrm>
          <a:prstGeom prst="roundRect">
            <a:avLst>
              <a:gd name="adj" fmla="val 2105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F: LOGISTICS &amp; SHIPPING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50059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Delivery Times &amp; Ship Mode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086475"/>
            <a:ext cx="11391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Q27 Answer:</a:t>
            </a:r>
            <a:r>
              <a:rPr sz="1050" b="0" i="0" u="none">
                <a:solidFill>
                  <a:srgbClr val="0369A1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0369A1"/>
                </a:solidFill>
                <a:latin typeface="Inter"/>
              </a:rPr>
              <a:t>Standard Class</a:t>
            </a:r>
            <a:r>
              <a:rPr sz="1050" b="0" i="0" u="none">
                <a:solidFill>
                  <a:srgbClr val="0369A1"/>
                </a:solidFill>
                <a:latin typeface="Inter"/>
              </a:rPr>
              <a:t> is used most frequently by a large margin (nearly 60% of total shipments).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800350"/>
            <a:ext cx="6238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5.01 Days Delivery (Q26)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133725"/>
            <a:ext cx="6238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5,968 Orders | $164,083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43175"/>
            <a:ext cx="5791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Second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00350"/>
            <a:ext cx="57912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3.24 Days Delivery (Q26)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33725"/>
            <a:ext cx="5791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1,945 Orders (19.5% Volume) | $57,447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9050"/>
            <a:ext cx="65508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First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086225"/>
            <a:ext cx="6238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2.18 Days Delivery (Q26)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419600"/>
            <a:ext cx="6238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1,538 Orders (15.4% Volume) | $48,969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29050"/>
            <a:ext cx="5791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Same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86225"/>
            <a:ext cx="57912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0.04 Days Delivery (Q26)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19600"/>
            <a:ext cx="5791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543 Orders (5.4% Volume) | $15,898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543175"/>
            <a:ext cx="376297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Standard Class (Q27: MOST USED)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7275" y="2571750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59.7% VOLUME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90625"/>
            <a:ext cx="5372100" cy="5210175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190625"/>
            <a:ext cx="5372100" cy="5210175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190625"/>
            <a:ext cx="53721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1190625"/>
            <a:ext cx="5372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SECTION F: LOGISTICS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4875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Faster Shipping Profit Impact &amp; Delays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57325"/>
            <a:ext cx="297607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Inter"/>
              </a:rPr>
              <a:t>Do Faster Ship Modes Yield Higher Profit?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771650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No, profit margins remain uniform (~12-13%).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076450"/>
            <a:ext cx="501015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Same Day Margin: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12.4%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First Class Margin: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13.9%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Second Class Margin: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12.5%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Standard Class Margin: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12.1%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043832"/>
            <a:ext cx="501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Key Takeaway: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Shipping speed does not significantly boost unit profitability. Standard Class delivers the highest total profit ($164K) purely due to order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1457325"/>
            <a:ext cx="25380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Inter"/>
              </a:rPr>
              <a:t>Delivery Times Greater Than 7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771650"/>
            <a:ext cx="57531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D97706"/>
                </a:solidFill>
                <a:latin typeface="Plus Jakarta Sans"/>
              </a:rPr>
              <a:t>606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390775"/>
            <a:ext cx="5753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Inter"/>
              </a:rPr>
              <a:t>6.06% of total order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705100"/>
            <a:ext cx="501015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Primary Driver: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Almost exclusively occurs in Standard Class shipments during peak Q4 sales volume.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Max Delay: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Up to 7 days fulfillment window in specific regional hub bottlenecks.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67400" y="4400550"/>
            <a:ext cx="4572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88925" y="2895600"/>
            <a:ext cx="1814151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3300" b="1" i="0" u="none" dirty="0">
                <a:solidFill>
                  <a:srgbClr val="FFFFFF"/>
                </a:solidFill>
                <a:latin typeface="Plus Jakarta Sans"/>
              </a:rPr>
              <a:t>Thank You</a:t>
            </a:r>
            <a:endParaRPr sz="33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8812" y="3581400"/>
            <a:ext cx="8334375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IN" b="0" i="0" u="none" dirty="0">
                <a:solidFill>
                  <a:srgbClr val="94A3B8"/>
                </a:solidFill>
                <a:latin typeface="Inter"/>
              </a:rPr>
              <a:t>Anuj Narang</a:t>
            </a:r>
            <a:endParaRPr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978</Words>
  <Application>Microsoft Office PowerPoint</Application>
  <PresentationFormat>Widescreen</PresentationFormat>
  <Paragraphs>175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Plus Jakarta Sans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Narang</cp:lastModifiedBy>
  <cp:revision>3</cp:revision>
  <dcterms:created xsi:type="dcterms:W3CDTF">2013-01-27T09:14:16Z</dcterms:created>
  <dcterms:modified xsi:type="dcterms:W3CDTF">2026-10-09T15:27:27Z</dcterms:modified>
  <cp:category/>
</cp:coreProperties>
</file>